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952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STrans 云边端协同智慧交通视觉感知系统</a:t>
            </a:r>
            <a:endParaRPr sz="3600" b="1">
              <a:solidFill>
                <a:srgbClr val="0B254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809750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64748B"/>
                </a:solidFill>
              </a:defRPr>
            </a:pPr>
            <a:r>
              <a:rPr sz="1950" b="0">
                <a:solidFill>
                  <a:srgbClr val="64748B"/>
                </a:solidFill>
              </a:rPr>
              <a:t>立项评审汇报：以模型选型和系统可落地性为重点</a:t>
            </a:r>
            <a:endParaRPr sz="1950" b="0">
              <a:solidFill>
                <a:srgbClr val="64748B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23900" y="2838450"/>
            <a:ext cx="23812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3900" y="2914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手机视频接入</a:t>
            </a:r>
            <a:endParaRPr sz="1275" b="1">
              <a:solidFill>
                <a:srgbClr val="2563E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333750" y="2838450"/>
            <a:ext cx="21907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33750" y="29146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YOLOv11 + ByteTrack</a:t>
            </a:r>
            <a:endParaRPr sz="1275" b="1">
              <a:solidFill>
                <a:srgbClr val="16A34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753100" y="2838450"/>
            <a:ext cx="21907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753100" y="29146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EA580C"/>
                </a:solidFill>
              </a:defRPr>
            </a:pPr>
            <a:r>
              <a:rPr sz="1275" b="1">
                <a:solidFill>
                  <a:srgbClr val="EA580C"/>
                </a:solidFill>
              </a:rPr>
              <a:t>HyperLPR3 / 电子ID</a:t>
            </a:r>
            <a:endParaRPr sz="1275" b="1">
              <a:solidFill>
                <a:srgbClr val="EA580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172450" y="2838450"/>
            <a:ext cx="20002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72450" y="29146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S2M 障碍物增强</a:t>
            </a:r>
            <a:endParaRPr sz="1275" b="1">
              <a:solidFill>
                <a:srgbClr val="7C3AE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3857625"/>
            <a:ext cx="9906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3857625"/>
            <a:ext cx="99060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39624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评审希望确认的核心问题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5350" y="4467225"/>
            <a:ext cx="9563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当前方案是否能支撑沙盘视频接入、车辆检测跟踪、通行决策、拥堵统计和异常告警的最小可行演示闭环。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01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结论先行：用成熟轻量模型支撑第一版闭环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1809750"/>
            <a:ext cx="32385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809750"/>
            <a:ext cx="32385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9145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第一版主链路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419350"/>
            <a:ext cx="28956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视频接入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YOLOv11 车辆检测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ByteTrack 车辆跟踪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REST/MJPEG 前端展示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76750" y="1809750"/>
            <a:ext cx="32385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1809750"/>
            <a:ext cx="32385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48200" y="19145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增强与兜底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419350"/>
            <a:ext cx="28956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HyperLPR3 做车牌识别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ArUco/二维码做电子ID兜底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S2M 用于障碍物增强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286750" y="1809750"/>
            <a:ext cx="32385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86750" y="1809750"/>
            <a:ext cx="32385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58200" y="19145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立项价值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58200" y="2419350"/>
            <a:ext cx="28956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演示闭环稳定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模型职责清晰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后续可替换为训练模型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风险有降级方案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" y="5095875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建议立项重点：先保证“看得见、识别到、统计出、可告警”，再逐步提升沙盘专用数据精度。</a:t>
            </a:r>
            <a:endParaRPr sz="1875" b="1">
              <a:solidFill>
                <a:srgbClr val="0B25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02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系统要解决的是沙盘交通的实时感知闭环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2282060"/>
            <a:ext cx="10858500" cy="2427229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00100" y="541020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闭环链路：视频源输入 -&gt; 后端拉流 -&gt; 图像预处理 -&gt; 算法推理 -&gt; 统计告警 -&gt; 前端大屏。</a:t>
            </a:r>
            <a:endParaRPr sz="1800" b="1">
              <a:solidFill>
                <a:srgbClr val="0B254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03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功能拆分决定模型组合，而不是用一个模型包打天下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714500"/>
            <a:ext cx="1714500" cy="552450"/>
          </a:xfrm>
          <a:prstGeom prst="rect">
            <a:avLst/>
          </a:prstGeom>
          <a:solidFill>
            <a:srgbClr val="E8EE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80975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功能</a:t>
            </a:r>
            <a:endParaRPr sz="1275" b="1">
              <a:solidFill>
                <a:srgbClr val="0B254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81250" y="1714500"/>
            <a:ext cx="2333625" cy="552450"/>
          </a:xfrm>
          <a:prstGeom prst="rect">
            <a:avLst/>
          </a:prstGeom>
          <a:solidFill>
            <a:srgbClr val="E8EE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18097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模型/算法</a:t>
            </a:r>
            <a:endParaRPr sz="1275" b="1">
              <a:solidFill>
                <a:srgbClr val="0B254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714875" y="1714500"/>
            <a:ext cx="4238625" cy="552450"/>
          </a:xfrm>
          <a:prstGeom prst="rect">
            <a:avLst/>
          </a:prstGeom>
          <a:solidFill>
            <a:srgbClr val="E8EE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810125" y="180975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选型理由</a:t>
            </a:r>
            <a:endParaRPr sz="1275" b="1">
              <a:solidFill>
                <a:srgbClr val="0B254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0" y="1714500"/>
            <a:ext cx="2333625" cy="552450"/>
          </a:xfrm>
          <a:prstGeom prst="rect">
            <a:avLst/>
          </a:prstGeom>
          <a:solidFill>
            <a:srgbClr val="E8EE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0" y="18097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第一版策略</a:t>
            </a:r>
            <a:endParaRPr sz="1275" b="1">
              <a:solidFill>
                <a:srgbClr val="0B254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2669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3622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车辆检测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81250" y="2266950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236220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YOLOv11s-visdrone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14875" y="2266950"/>
            <a:ext cx="4238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10125" y="236220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适合小目标和俯视车辆，推理快，生态成熟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53500" y="2266950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048750" y="236220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主链路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2819400"/>
            <a:ext cx="17145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291465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车辆跟踪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2819400"/>
            <a:ext cx="2333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476500" y="29146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ByteTrack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714875" y="2819400"/>
            <a:ext cx="4238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10125" y="291465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轻量、无需外观特征，能维护连续 ID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53500" y="2819400"/>
            <a:ext cx="2333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048750" y="29146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主链路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33718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2000" y="34671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车牌识别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381250" y="3371850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476500" y="346710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HyperLPR3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714875" y="3371850"/>
            <a:ext cx="4238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810125" y="346710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车牌专用，内置检测、矫正和识别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53500" y="3371850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048750" y="346710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重要功能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3924300"/>
            <a:ext cx="17145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401955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障碍物识别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381250" y="3924300"/>
            <a:ext cx="2333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476500" y="40195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YOLOv11 + S2M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714875" y="3924300"/>
            <a:ext cx="4238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810125" y="401955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基础检测复用 YOLO，未知异物用 S2M 分割增强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953500" y="3924300"/>
            <a:ext cx="2333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048750" y="40195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增强模块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6750" y="447675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62000" y="45720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拥堵/热力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381250" y="4476750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476500" y="457200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规则 + 热度累积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714875" y="4476750"/>
            <a:ext cx="4238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810125" y="457200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可解释、参数可调，不依赖额外训练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953500" y="4476750"/>
            <a:ext cx="23336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048750" y="457200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主链路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6750" y="5029200"/>
            <a:ext cx="1714500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62000" y="512445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通行决策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381250" y="5029200"/>
            <a:ext cx="2333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476500" y="51244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OCR/电子ID + 白名单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714875" y="5029200"/>
            <a:ext cx="4238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4810125" y="512445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真实车牌受画质影响时可用电子 ID 稳定演示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953500" y="5029200"/>
            <a:ext cx="2333625" cy="5524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048750" y="5124450"/>
            <a:ext cx="214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兜底稳定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04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车辆检测选择 YOLOv11s-visdrone，跟踪选择 ByteTrack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1762125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762125"/>
            <a:ext cx="49530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6690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为什么不是只用 YOLO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371725"/>
            <a:ext cx="4610100" cy="22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YOLO 只能给出单帧检测框，车辆离开再进入画面时无法稳定维护身份；统计车流、车速和禁停停留时长都需要连续轨迹。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72250" y="1762125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1762125"/>
            <a:ext cx="49530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743700" y="186690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组合后的效果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43700" y="2371725"/>
            <a:ext cx="4610100" cy="22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YOLOv11 负责找车，ByteTrack 负责把不同帧里的同一辆车串起来，输出 track_id、bbox、class 和 confidence。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5238750"/>
            <a:ext cx="1019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选型判断：沙盘车辆通常较小、视角接近俯视，优先选择小目标适配更好的检测权重；跟踪模块优先轻量和实时。</a:t>
            </a:r>
            <a:endParaRPr sz="1800" b="1">
              <a:solidFill>
                <a:srgbClr val="0B254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05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车牌识别采用 HyperLPR3，并保留电子 ID 兜底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1762125"/>
            <a:ext cx="328612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762125"/>
            <a:ext cx="3286125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6690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正常模式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371725"/>
            <a:ext cx="2943225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车辆检测框裁剪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HyperLPR3 识别车牌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识别结果绑定 track_id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进入白名单比对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76750" y="1762125"/>
            <a:ext cx="328612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1762125"/>
            <a:ext cx="3286125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48200" y="186690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沙盘风险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371725"/>
            <a:ext cx="2943225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画面分辨率有限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车牌尺寸小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运动模糊和角度偏斜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真实车牌识别可能不稳定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286750" y="1762125"/>
            <a:ext cx="328612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86750" y="1762125"/>
            <a:ext cx="3286125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58200" y="1866900"/>
            <a:ext cx="2943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兜底方案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58200" y="2371725"/>
            <a:ext cx="2943225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车辆贴 ArUco/二维码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作为电子车牌 ID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优先保证验收演示稳定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后续再提升 OCR 精度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14375" y="53340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立项阶段的关键不是承诺所有车牌都高精度识别，而是给出可演示、可扩展、可替换的身份识别链路。</a:t>
            </a:r>
            <a:endParaRPr sz="1800" b="1">
              <a:solidFill>
                <a:srgbClr val="0B25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06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障碍物和拥堵采用“检测复用 + 规则解释 + 增强预留”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1762125"/>
            <a:ext cx="3429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762125"/>
            <a:ext cx="34290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6690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障碍物基础模式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371725"/>
            <a:ext cx="30861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复用 YOLOv11 单次推理结果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过滤 person、bicycle、stop sign 等类别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结合道路 ROI 判断是否占道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81500" y="1762125"/>
            <a:ext cx="3429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381500" y="1762125"/>
            <a:ext cx="34290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52950" y="186690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S2M 增强模式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52950" y="2371725"/>
            <a:ext cx="30861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用于未知异物和边界不规则目标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输出道路 ROI 内 mask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优先离线评估或低帧率精细识别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96250" y="1762125"/>
            <a:ext cx="3429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96250" y="1762125"/>
            <a:ext cx="34290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67700" y="186690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拥堵与热力图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67700" y="2371725"/>
            <a:ext cx="30861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ByteTrack 输出轨迹和中心点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热度矩阵累积与衰减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密度 + 速度阈值判定拥堵等级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14375" y="53340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这样做的好处是第一版不增加过多实时推理压力，同时保留障碍物精细识别的研究空间。</a:t>
            </a:r>
            <a:endParaRPr sz="1800" b="1">
              <a:solidFill>
                <a:srgbClr val="0B25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07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前后端接口围绕视频流和最新分析结果设计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894" y="1571625"/>
            <a:ext cx="9680212" cy="409575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81050" y="57150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前端用 MJPEG 承载实时画面，用 REST 轮询状态和分析结果；这比前期就做复杂 WebSocket 推帧更稳。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08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前端展示重点服务于现场演示和验收观察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7456" y="1524000"/>
            <a:ext cx="8157088" cy="4238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81050" y="5905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页面采用浅色高对比沙盘大屏：中心看实时画面，两侧看视频源、检测结果、统计指标、告警和日志。</a:t>
            </a:r>
            <a:endParaRPr sz="1650" b="1">
              <a:solidFill>
                <a:srgbClr val="0B254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09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部署方案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231710"/>
            <a:ext cx="7239000" cy="2537454"/>
          </a:xfrm>
          <a:prstGeom prst="rect">
            <a:avLst/>
          </a:prstGeom>
        </p:spPr>
      </p:pic>
      <p:sp>
        <p:nvSpPr>
          <p:cNvPr id="5" name="圆角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34375" y="1762125"/>
            <a:ext cx="3143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34375" y="1762125"/>
            <a:ext cx="314325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505825" y="186690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开发阶段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505825" y="2371725"/>
            <a:ext cx="28003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手机或本地视频 -&gt; 笔记本后端 -&gt; 本地模型 -&gt; 前端浏览器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334375" y="3524250"/>
            <a:ext cx="3143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34375" y="3524250"/>
            <a:ext cx="314325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505825" y="362902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演示阶段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05825" y="4133850"/>
            <a:ext cx="28003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使用本地视频兜底，真实手机推流作为增强展示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334375" y="5286375"/>
            <a:ext cx="3143250" cy="101028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334375" y="5286375"/>
            <a:ext cx="314325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505825" y="5391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扩展阶段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505825" y="5781675"/>
            <a:ext cx="2800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可拆分 GPU 云端推理，形成云边端协同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10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2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STrans 立项评审</a:t>
            </a:r>
            <a:endParaRPr sz="1200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858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2545"/>
                </a:solidFill>
              </a:defRPr>
            </a:pPr>
            <a:r>
              <a:rPr sz="2925" b="1">
                <a:solidFill>
                  <a:srgbClr val="0B2545"/>
                </a:solidFill>
              </a:rPr>
              <a:t>下一阶段以沙盘数据验证模型选型</a:t>
            </a:r>
            <a:endParaRPr sz="2925" b="1">
              <a:solidFill>
                <a:srgbClr val="0B254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762000" y="1809750"/>
            <a:ext cx="3238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809750"/>
            <a:ext cx="32385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19145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本周目标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419350"/>
            <a:ext cx="2895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整理沙盘视频数据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标注关键片段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确认车辆、障碍物、车牌可见性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76750" y="1809750"/>
            <a:ext cx="3238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1809750"/>
            <a:ext cx="32385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48200" y="19145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模型验证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419350"/>
            <a:ext cx="2895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YOLOv11 检测效果评估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ByteTrack ID 连续性评估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HyperLPR3 / 电子ID 对比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91500" y="1809750"/>
            <a:ext cx="3238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91500" y="1809750"/>
            <a:ext cx="3238500" cy="457200"/>
          </a:xfrm>
          <a:prstGeom prst="rect">
            <a:avLst/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1914525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评审请求</a:t>
            </a:r>
            <a:endParaRPr sz="1725" b="1">
              <a:solidFill>
                <a:srgbClr val="0B254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62950" y="2419350"/>
            <a:ext cx="2895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确认模型组合方向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确认 P0/P1 功能边界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允许以电子ID作为车牌兜底方案</a:t>
            </a:r>
            <a:endParaRPr sz="135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533400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立项后交付重点：先完成可跑通闭环，再用沙盘数据逐步提升模型识别效果和前端展示完整度。</a:t>
            </a:r>
            <a:endParaRPr sz="1875" b="1">
              <a:solidFill>
                <a:srgbClr val="0B25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0" y="64579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立项评审 | 11</a:t>
            </a:r>
            <a:endParaRPr sz="97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.5,&quot;left&quot;:57,&quot;top&quot;:223.5,&quot;width&quot;:568.5}"/>
</p:tagLst>
</file>

<file path=ppt/tags/tag2.xml><?xml version="1.0" encoding="utf-8"?>
<p:tagLst xmlns:p="http://schemas.openxmlformats.org/presentationml/2006/main">
  <p:tag name="KSO_WM_DIAGRAM_VIRTUALLY_FRAME" val="{&quot;height&quot;:28.5,&quot;left&quot;:57,&quot;top&quot;:223.5,&quot;width&quot;:568.5}"/>
</p:tagLst>
</file>

<file path=ppt/tags/tag3.xml><?xml version="1.0" encoding="utf-8"?>
<p:tagLst xmlns:p="http://schemas.openxmlformats.org/presentationml/2006/main">
  <p:tag name="KSO_WM_DIAGRAM_VIRTUALLY_FRAME" val="{&quot;height&quot;:28.5,&quot;left&quot;:57,&quot;top&quot;:223.5,&quot;width&quot;:568.5}"/>
</p:tagLst>
</file>

<file path=ppt/tags/tag4.xml><?xml version="1.0" encoding="utf-8"?>
<p:tagLst xmlns:p="http://schemas.openxmlformats.org/presentationml/2006/main">
  <p:tag name="KSO_WM_DIAGRAM_VIRTUALLY_FRAME" val="{&quot;height&quot;:28.5,&quot;left&quot;:57,&quot;top&quot;:223.5,&quot;width&quot;:568.5}"/>
</p:tagLst>
</file>

<file path=ppt/tags/tag5.xml><?xml version="1.0" encoding="utf-8"?>
<p:tagLst xmlns:p="http://schemas.openxmlformats.org/presentationml/2006/main">
  <p:tag name="KSO_WM_DIAGRAM_VIRTUALLY_FRAME" val="{&quot;height&quot;:28.5,&quot;left&quot;:57,&quot;top&quot;:223.5,&quot;width&quot;:568.5}"/>
</p:tagLst>
</file>

<file path=ppt/tags/tag6.xml><?xml version="1.0" encoding="utf-8"?>
<p:tagLst xmlns:p="http://schemas.openxmlformats.org/presentationml/2006/main">
  <p:tag name="KSO_WM_DIAGRAM_VIRTUALLY_FRAME" val="{&quot;height&quot;:28.5,&quot;left&quot;:57,&quot;top&quot;:223.5,&quot;width&quot;:568.5}"/>
</p:tagLst>
</file>

<file path=ppt/tags/tag7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8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9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0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1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2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3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4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5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6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7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ags/tag18.xml><?xml version="1.0" encoding="utf-8"?>
<p:tagLst xmlns:p="http://schemas.openxmlformats.org/presentationml/2006/main">
  <p:tag name="KSO_WM_DIAGRAM_VIRTUALLY_FRAME" val="{&quot;height&quot;:365.35,&quot;left&quot;:656.25,&quot;top&quot;:138.75,&quot;width&quot;:247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1988</Words>
  <Application>WPS 演示</Application>
  <PresentationFormat>Converted Presentation</PresentationFormat>
  <Paragraphs>247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LING</cp:lastModifiedBy>
  <cp:revision>2</cp:revision>
  <dcterms:created xsi:type="dcterms:W3CDTF">2026-07-07T08:19:54Z</dcterms:created>
  <dcterms:modified xsi:type="dcterms:W3CDTF">2026-07-07T08:21:28Z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BA1504F607C843FFACBA7AC3A53C28FD_12</vt:lpwstr>
  </property>
  <property fmtid="{D5CDD505-2E9C-101B-9397-08002B2CF9AE}" pid="3" name="KSOProductBuildVer">
    <vt:lpwstr>2052-12.1.0.26895</vt:lpwstr>
  </property>
</Properties>
</file>